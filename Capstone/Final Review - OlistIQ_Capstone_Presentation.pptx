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9" r:id="rId1"/>
  </p:sldMasterIdLst>
  <p:notesMasterIdLst>
    <p:notesMasterId r:id="rId25"/>
  </p:notesMasterIdLst>
  <p:sldIdLst>
    <p:sldId id="279" r:id="rId2"/>
    <p:sldId id="257" r:id="rId3"/>
    <p:sldId id="258" r:id="rId4"/>
    <p:sldId id="259" r:id="rId5"/>
    <p:sldId id="280" r:id="rId6"/>
    <p:sldId id="261" r:id="rId7"/>
    <p:sldId id="262" r:id="rId8"/>
    <p:sldId id="28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87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5503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1931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7417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9413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747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6686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7482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3224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0460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0588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2845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662926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257695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044222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8225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53543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21639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21916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8427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84967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565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72317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78313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32019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2653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558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70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74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2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  <p:sldLayoutId id="2147483787" r:id="rId18"/>
    <p:sldLayoutId id="2147483788" r:id="rId19"/>
    <p:sldLayoutId id="2147483789" r:id="rId20"/>
    <p:sldLayoutId id="2147483790" r:id="rId21"/>
    <p:sldLayoutId id="2147483791" r:id="rId22"/>
    <p:sldLayoutId id="2147483792" r:id="rId23"/>
    <p:sldLayoutId id="2147483793" r:id="rId24"/>
    <p:sldLayoutId id="2147483794" r:id="rId25"/>
    <p:sldLayoutId id="2147483795" r:id="rId26"/>
    <p:sldLayoutId id="2147483796" r:id="rId27"/>
    <p:sldLayoutId id="2147483797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2194560"/>
            <a:ext cx="5486400" cy="548640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846320"/>
            <a:ext cx="4572000" cy="457200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5" name="Image 0" descr="/home/claude/ppt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1051560" cy="740664"/>
          </a:xfrm>
          <a:prstGeom prst="rect">
            <a:avLst/>
          </a:prstGeom>
        </p:spPr>
      </p:pic>
      <p:pic>
        <p:nvPicPr>
          <p:cNvPr id="6" name="Image 1" descr="/home/claude/ppt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365760"/>
            <a:ext cx="1005840" cy="8412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3657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SAVEETHA INSTITUTE OF MEDICAL AND</a:t>
            </a:r>
            <a:endParaRPr lang="en-US" sz="2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SCIENCES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ITA0404 · R PROGRAMMING CAPSTONE PROJECT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19659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OlistIQ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Price Recommendation &amp; Sales Forecasting Engine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358384" y="342900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280160" y="35661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ARIMA time-series forecasting and an interactive glassmorphic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dashboard, analyzing 112,650 order items from Brazil's Olist marketplace.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4526280"/>
            <a:ext cx="5989320" cy="1737360"/>
          </a:xfrm>
          <a:prstGeom prst="rect">
            <a:avLst/>
          </a:prstGeom>
          <a:solidFill>
            <a:srgbClr val="F5F7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4663440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5010912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Yarrapureddy Lakshmi Reddy (192324077)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22960" y="5312664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Thirulogasundar Y (192321073)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22960" y="5614416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Rupesh Reddy Karnati (192324097)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22960" y="5916168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Rajiv Shashank (192321042)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086600" y="4526280"/>
            <a:ext cx="4251960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7086600" y="489204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086600" y="52578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Kumaresan G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2385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Multi-vendor e-commerce marketplaces run on two hard problems: helping merchants price products correctly, and predicting cash flow that hasn't happened yet. OlistIQ is an end-to-end analytical engine, built entirely in R, that tackles both — using the real transaction history of Olist, Brazil's largest marketplace integrator.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3940324"/>
            <a:ext cx="5943600" cy="1619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pipeline ingests 9 relational CSV tables, cleans and joins them with tidyverse, fits an ARIMA revenue forecasting model, and serves 14 interactive analytics modules through a dark glassmorphic web dashboard powered by Chart.js.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03720" y="1293222"/>
            <a:ext cx="4754880" cy="4572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61326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112,650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269480" y="214361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analyzed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69480" y="266482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69480" y="319517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marketplace orders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69480" y="371638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69480" y="424673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profiled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69480" y="476794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69480" y="529829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modules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27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5000"/>
              </a:lnSpc>
              <a:buNone/>
            </a:pPr>
            <a:r>
              <a:rPr lang="en-US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Sellers on large marketplaces operate with asymmetric information — they can see their own listings, but not the pricing distribution of their category, regional demand shifts, or how predictable next month's revenue really 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738539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67139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6713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2939707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pricing benchmark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3895" y="3759680"/>
            <a:ext cx="3063240" cy="16427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Merchants set prices without visibility into category-level Q1/median/Q3 distributions, risking under- or over-pricing.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51960" y="2738539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967139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96713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38531" y="2939707"/>
            <a:ext cx="250526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Unpredictable cash 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80560" y="3666376"/>
            <a:ext cx="3063240" cy="1950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statistical forecasting, sellers and marketplace finance teams cannot plan inventory or cash flow with confidence.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55280" y="2738539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2967139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96713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23960" y="2939706"/>
            <a:ext cx="2423160" cy="624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Fragmented operational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83880" y="3844785"/>
            <a:ext cx="3063240" cy="1538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Order, payment, logistics and review data live in 9 separate tables with no unified, decision-ready view.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OlistIQ · Capstone Report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ETL Pipeline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Ingest, clean, join and aggregate Olist's 9 relational tables using dplyr, readr and lubridate.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97880" y="1600200"/>
            <a:ext cx="5120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0" y="18013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Time-Series Sales Forecasting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23134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statistically rigorous monthly revenue model with the forecast/tseries packages and auto.arima().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120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7320" y="34930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 Recommendation Intelligence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 Q1/Median/Mean/Q3/IQR pricing profiles across 73 product categories to guide merchant pricing.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97880" y="3291840"/>
            <a:ext cx="5120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35204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34930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Operations &amp; Behavior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26480" y="400507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Quantify payment preferences, installment usage, geographic density, delivery duration and review sentiment.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983479"/>
            <a:ext cx="10469880" cy="11280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212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17320" y="5184648"/>
            <a:ext cx="9006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Executive Visualization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7240" y="5696712"/>
            <a:ext cx="9646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 all findings through an HTML5 + Chart.js 4.4 </a:t>
            </a:r>
            <a:r>
              <a:rPr lang="en-US" sz="1400" dirty="0" err="1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glassmorphic</a:t>
            </a:r>
            <a:r>
              <a:rPr lang="en-US" sz="1400" dirty="0">
                <a:solidFill>
                  <a:srgbClr val="5C64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web dashboard.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Literature Review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reviewed for model choice, dataset alignment, and forecasting performance.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6898" y="1895050"/>
            <a:ext cx="182880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1762" y="189505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Title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15698" y="1895050"/>
            <a:ext cx="100584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470562" y="189505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21538" y="1895050"/>
            <a:ext cx="91440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76402" y="189505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35938" y="1895050"/>
            <a:ext cx="5943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35938" y="1895050"/>
            <a:ext cx="649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30298" y="1895050"/>
            <a:ext cx="10972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985162" y="189505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Source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27578" y="1895050"/>
            <a:ext cx="22402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082442" y="1895050"/>
            <a:ext cx="2130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Contributions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67858" y="1895050"/>
            <a:ext cx="22402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22722" y="1895050"/>
            <a:ext cx="2130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508138" y="1895050"/>
            <a:ext cx="7315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508138" y="189505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6898" y="2242522"/>
            <a:ext cx="182880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762" y="2269954"/>
            <a:ext cx="171907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Olist Sales Forecasting with Facebook Prophet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415698" y="2242522"/>
            <a:ext cx="10058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70562" y="2269954"/>
            <a:ext cx="89611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Rodrigues, 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421538" y="2242522"/>
            <a:ext cx="91440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6402" y="2269954"/>
            <a:ext cx="80467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Facebook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Prophet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335938" y="2242522"/>
            <a:ext cx="59436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5938" y="2269954"/>
            <a:ext cx="59436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30298" y="2242522"/>
            <a:ext cx="109728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5162" y="2269954"/>
            <a:ext cx="987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Notebooks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27578" y="2242522"/>
            <a:ext cx="224028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2442" y="2269954"/>
            <a:ext cx="2130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Prophet to the same Olist dataset with automatic seasonality decomposition.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67858" y="2242522"/>
            <a:ext cx="224028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2722" y="2269954"/>
            <a:ext cx="2130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Higher RMSE (R$138K) than ARIMA; forecast horizon limited to 3 months.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508138" y="2242522"/>
            <a:ext cx="731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63002" y="2269954"/>
            <a:ext cx="62179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7.5/10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86898" y="3129490"/>
            <a:ext cx="182880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762" y="3156922"/>
            <a:ext cx="171907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 Recommendation via XGBoost Regression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415698" y="3129490"/>
            <a:ext cx="100584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70562" y="3156922"/>
            <a:ext cx="89611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Various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(ResearchGate)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421538" y="3129490"/>
            <a:ext cx="91440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6402" y="3156922"/>
            <a:ext cx="80467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335938" y="3129490"/>
            <a:ext cx="59436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5938" y="3156922"/>
            <a:ext cx="53949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930298" y="3129490"/>
            <a:ext cx="109728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5162" y="3156922"/>
            <a:ext cx="987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ResearchGate /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Amazon Reviews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027578" y="3129490"/>
            <a:ext cx="224028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2442" y="3156922"/>
            <a:ext cx="2130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Gradient-boosted category price prediction with strong R² (0.71) on review data.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267858" y="3129490"/>
            <a:ext cx="224028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22722" y="3156922"/>
            <a:ext cx="2130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temporal/revenue forecasting; single-market (US) scope; static point pricing only.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508138" y="3129490"/>
            <a:ext cx="73152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63002" y="3156922"/>
            <a:ext cx="62179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6.8/10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86898" y="4016458"/>
            <a:ext cx="182880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762" y="4043890"/>
            <a:ext cx="171907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E-Commerce Demand Forecasting with LSTM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415698" y="4016458"/>
            <a:ext cx="10058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70562" y="4043890"/>
            <a:ext cx="89611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Various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(IEEE Access)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421538" y="4016458"/>
            <a:ext cx="91440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6402" y="4043890"/>
            <a:ext cx="80467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Neural Network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335938" y="4016458"/>
            <a:ext cx="59436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90802" y="4043890"/>
            <a:ext cx="53949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930298" y="4016458"/>
            <a:ext cx="109728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85162" y="4043890"/>
            <a:ext cx="987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IEEE Access /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Alibaba Tmall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027578" y="4016458"/>
            <a:ext cx="224028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2442" y="4043890"/>
            <a:ext cx="2130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Captures nonlinear, long-range demand patterns; low MAPE (8.3%) over 30 days.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8267858" y="4016458"/>
            <a:ext cx="224028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2722" y="4043890"/>
            <a:ext cx="2130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compute cost; large training-data requirement; limited interpretability.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0508138" y="4016458"/>
            <a:ext cx="73152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63002" y="4043890"/>
            <a:ext cx="62179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8.8/10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86898" y="4903426"/>
            <a:ext cx="182880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762" y="4930858"/>
            <a:ext cx="171907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Naïve Baseline: Last-Value Carry Forward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2415698" y="4903426"/>
            <a:ext cx="100584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70562" y="4930858"/>
            <a:ext cx="89611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N/A (baseline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3421538" y="4903426"/>
            <a:ext cx="91440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76402" y="4930858"/>
            <a:ext cx="80467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Last-Value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Carry Forward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335938" y="4903426"/>
            <a:ext cx="59436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35938" y="4930858"/>
            <a:ext cx="53949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930298" y="4903426"/>
            <a:ext cx="109728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85162" y="4930858"/>
            <a:ext cx="987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Olist Brazil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(same dataset)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6027578" y="4903426"/>
            <a:ext cx="224028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82442" y="4930858"/>
            <a:ext cx="2130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Establishes a minimum-performance reference point for forecast accuracy comparison.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8267858" y="4903426"/>
            <a:ext cx="224028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22722" y="4930858"/>
            <a:ext cx="21305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Ignores trend and seasonality entirely; highest error (R$182K+) among all methods.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10508138" y="4903426"/>
            <a:ext cx="731520" cy="88696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563002" y="4930858"/>
            <a:ext cx="62179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3.0/10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decoupled four-stage pipeline separates raw data, R data engineering, aggregated output, and the presentation layer.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123647"/>
            <a:ext cx="233172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06527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Relational Datasets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9759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raw CSV files, 120MB+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2535127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37560" y="2123647"/>
            <a:ext cx="2331720" cy="1371600"/>
          </a:xfrm>
          <a:prstGeom prst="rect">
            <a:avLst/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9AA5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306527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Data Engineering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019759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extract_data.R · R 4.5.2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0" y="2535127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89320" y="2123647"/>
            <a:ext cx="233172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306527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Data Repository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019759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dashboard_data.json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21040" y="2535127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641080" y="2123647"/>
            <a:ext cx="2331720" cy="1371600"/>
          </a:xfrm>
          <a:prstGeom prst="rect">
            <a:avLst/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9AA5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78240" y="2306527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Analytics Web UI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3019759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Chart.js 4.4.0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878734"/>
            <a:ext cx="10287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raw CSVs → R ETL &amp; ARIMA modeling → aggregated JSON → glassmorphic web dashboard rendered with Chart.js.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613985"/>
            <a:ext cx="11109960" cy="1234440"/>
          </a:xfrm>
          <a:prstGeom prst="rect">
            <a:avLst/>
          </a:prstGeom>
          <a:solidFill>
            <a:srgbClr val="F5F7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05425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998033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(v4.5.2)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98648" y="4705425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98648" y="4998033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dplyr, readr, lubridate, stringr, zoo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11496" y="4705425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11496" y="4998033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forecast, tseries — auto.arima()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24344" y="4705425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24344" y="4998033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jsonlite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37192" y="4705425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37192" y="4998033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 (glassmorphism), JS ES6+, Chart.js 4.4.0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Requirements: Tools, Languages &amp; Data Source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7393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9888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9888" y="197510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v4.5.2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97880" y="155448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77393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099048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9128" y="197510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1.1.4 · readr 2.1.5 · lubridate 1.9.3 · stringr 1.5.1 · zoo 1.8-12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82549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89888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9888" y="302666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8.23.0 · tseries 0.10-54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97880" y="260604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9048" y="282549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48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9128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Serialization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9128" y="302666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jsonlite 1.8.8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8770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89888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89888" y="407822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Vanilla CSS3 (glassmorphism) · JavaScript ES6+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97880" y="3657600"/>
            <a:ext cx="5120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99048" y="38770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099048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9128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 Engine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39128" y="407822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4.4.0 UMD + chartjs-plugin-annotation 3.0.1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1051560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Brazilian E-Commerce Public Dataset (2016–2018)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relational CSV files · 99,441 orders · 112,650 order items · 32,951 products · 3,095 sellers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206240"/>
            <a:ext cx="4572000" cy="45720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95202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Internal Structure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data engineering, statistical modeling, and the empirical analytics engine behind OlistIQ.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&amp; Dataset Inventory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relational CSV files capture the full order lifecycle — purchase, payment, fulfillment, and review.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965960"/>
            <a:ext cx="128016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96596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57784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9659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in Pipeline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4144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olist_orders_dataset.csv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441448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4144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2441448"/>
            <a:ext cx="557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44144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filter, timeline &amp; delivery SLA computation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916936"/>
            <a:ext cx="420624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1693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olist_order_items_dataset.csv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916936"/>
            <a:ext cx="128016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91693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35040" y="2916936"/>
            <a:ext cx="557784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916936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pricing, seller volume, category sales aggregation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392424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9242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olist_order_payments_dataset.csv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392424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39242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103,886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3392424"/>
            <a:ext cx="557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392424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computation, payment method &amp; installment breakdown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867912"/>
            <a:ext cx="420624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679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olist_order_reviews_dataset.csv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867912"/>
            <a:ext cx="128016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679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104,164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35040" y="3867912"/>
            <a:ext cx="557784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867912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 sentiment breakdown (1–5 stars)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3434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olist_products_dataset.csv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4343400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3434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35040" y="4343400"/>
            <a:ext cx="557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434340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inventory &amp; category mapping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4818888"/>
            <a:ext cx="420624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1888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olist_customers_dataset.csv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754880" y="4818888"/>
            <a:ext cx="128016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81888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35040" y="4818888"/>
            <a:ext cx="557784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481888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demand mapping across 27 Brazilian states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5294376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29437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olist_sellers_dataset.csv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754880" y="5294376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529437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035040" y="5294376"/>
            <a:ext cx="557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5294376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volume tracking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5769864"/>
            <a:ext cx="420624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7698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product_category_name_translation.csv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754880" y="5769864"/>
            <a:ext cx="128016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57698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035040" y="5769864"/>
            <a:ext cx="5577840" cy="475488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5769864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→ English category translation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STATISTICAL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 Time-Series Forecasting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FORMULATION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Yt modeled over T = 22 monthly observations (Oct 2016 – Aug 2018).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4663440" cy="6858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ΔYt = c + φ1·ΔYt-1 + εt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via auto.arima() with step-wise search and Bayesian/Akaike optimization across candidate orders (p, d, q).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41605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ARIMA(1,1,0) with drift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φ1 (AR parameter)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45720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-0.428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(drift / monthly growth)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4983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R$ 44,707.12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error term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53949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εt ~ White Noise(0, σ²)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269748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6733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556.31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6364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61120" y="1508760"/>
            <a:ext cx="269748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16733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557.72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440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2926080"/>
            <a:ext cx="269748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090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559.44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26364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61120" y="2926080"/>
            <a:ext cx="269748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090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-275.16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1440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80760" y="4434840"/>
            <a:ext cx="5394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AIC/AICc/BIC values indicate the strongest trade-off between fit quality and model complexity among all candidate specifications tested.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STATISTICAL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Fit &amp; Error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508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R$ 114,823.40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of forecast residuals vs. ~R$700K mean monthly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1508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572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R$ 82,140.15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26280" y="2057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26280" y="2359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monthly revenue error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66160" cy="1508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572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556.31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75320" y="2057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75320" y="2359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fit-vs-complexity trade-off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27248"/>
            <a:ext cx="11064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OUT-OF-SAMPLE FORECAST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14400" y="3456432"/>
            <a:ext cx="173736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4564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51760" y="3456432"/>
            <a:ext cx="228600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4564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Forecast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3456432"/>
            <a:ext cx="324612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4564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83880" y="3456432"/>
            <a:ext cx="324612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34564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3822192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8221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382219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R$ 1,084,563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822192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822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926,221 – 1,242,906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3880" y="3822192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3822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842,399 – 1,326,728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4187952"/>
            <a:ext cx="17373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1879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4187952"/>
            <a:ext cx="228600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4187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R$ 1,103,386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4187952"/>
            <a:ext cx="324612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4187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930,845 – 1,275,928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83880" y="4187952"/>
            <a:ext cx="324612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4187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839,507 – 1,367,266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4400" y="4553712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4553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51760" y="455371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4553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R$ 1,167,764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937760" y="4553712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45537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957,898 – 1,377,630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183880" y="4553712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75320" y="45537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846,801 – 1,488,726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4400" y="4919472"/>
            <a:ext cx="17373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4919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2018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51760" y="4919472"/>
            <a:ext cx="228600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0" y="4919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R$ 1,206,306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937760" y="4919472"/>
            <a:ext cx="324612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0" y="49194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977,724 – 1,434,889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183880" y="4919472"/>
            <a:ext cx="324612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75320" y="49194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856,719 – 1,555,894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0" y="5285232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5840" y="52852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2019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651760" y="528523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0" y="52852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R$ 1,259,501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937760" y="5285232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5285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1,007,127 – 1,511,874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183880" y="5285232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75320" y="5285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873,529 – 1,645,472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14400" y="5650992"/>
            <a:ext cx="17373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" y="56509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2019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651760" y="5650992"/>
            <a:ext cx="228600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0" y="56509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R$ 1,304,386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937760" y="5650992"/>
            <a:ext cx="324612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0" y="5650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1,033,769 – 1,575,002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183880" y="5650992"/>
            <a:ext cx="324612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75320" y="5650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890,513 – 1,718,258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EMPIRICAL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Orders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R$ 16.0M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27432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Marketplace Volume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32,951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Product SKUs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3,095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35440" y="27432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40560" y="36576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23440" y="3977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R$ 165.93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123440" y="4709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75200" y="36576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8080" y="3977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 / 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958080" y="4709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09840" y="36576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92720" y="3977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792720" y="4709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EMPIRICAL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Category Revenue &amp; Volume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revenue-generating categories, ranked by total revenue share of GMV.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4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health_beauty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2074672"/>
            <a:ext cx="658368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074672"/>
            <a:ext cx="658368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0" y="2047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R$ 1259K  (7.86%)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77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watches_gifts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2605024"/>
            <a:ext cx="658368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605024"/>
            <a:ext cx="6302927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0" y="25775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R$ 1205K  (7.53%)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079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bed_bath_table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3135376"/>
            <a:ext cx="658368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3135376"/>
            <a:ext cx="5424094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310794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R$ 1037K  (6.48%)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382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sports_leisure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3665728"/>
            <a:ext cx="658368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3665728"/>
            <a:ext cx="5168107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363829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R$ 988K  (6.17%)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168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computers_accessories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4196080"/>
            <a:ext cx="658368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4196080"/>
            <a:ext cx="4770083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0" y="41686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R$ 912K  (5.70%)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69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furniture_decor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83280" y="4726432"/>
            <a:ext cx="658368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4726432"/>
            <a:ext cx="3817107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0" y="469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R$ 730K  (4.56%)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229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cool_stuff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83280" y="5256784"/>
            <a:ext cx="658368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1" name="Shape 29"/>
          <p:cNvSpPr/>
          <p:nvPr/>
        </p:nvSpPr>
        <p:spPr>
          <a:xfrm>
            <a:off x="3383280" y="5256784"/>
            <a:ext cx="3322965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0" y="522935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R$ 635K  (3.97%)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EMPIRICAL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Intelligence &amp; 4-Tier Category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Q1/Median/Mean/Q3 price statistics drive a recommended price band per category — tight bands for low-dispersion categories, wide bands for high-dispersion 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94080" y="2367280"/>
            <a:ext cx="24688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7232" y="236728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2960" y="2367280"/>
            <a:ext cx="14173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36112" y="236728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80280" y="2367280"/>
            <a:ext cx="14173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53432" y="236728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7600" y="2367280"/>
            <a:ext cx="14173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70752" y="236728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14920" y="2367280"/>
            <a:ext cx="12344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8072" y="236728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49360" y="2367280"/>
            <a:ext cx="22402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922512" y="236728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Band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4080" y="287020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232" y="287020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2960" y="287020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6112" y="287020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R$647.50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80280" y="287020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3432" y="287020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R$899.00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7600" y="287020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0752" y="287020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R$1,300.00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14920" y="287020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8072" y="287020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49360" y="2870200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22512" y="287020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R$850 – R$1,150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4080" y="3373120"/>
            <a:ext cx="246888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7232" y="337312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small_appliances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62960" y="337312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6112" y="337312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R$94.00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80280" y="337312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3432" y="337312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R$579.00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97600" y="337312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0752" y="337312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R$795.00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14920" y="3373120"/>
            <a:ext cx="123444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8072" y="337312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8.46×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849360" y="3373120"/>
            <a:ext cx="224028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22512" y="337312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R$450 – R$700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94080" y="387604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7232" y="38760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agro_industry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362960" y="387604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36112" y="387604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R$35.00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780280" y="387604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3432" y="387604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R$229.00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197600" y="387604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0752" y="387604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R$420.00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614920" y="387604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88072" y="387604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12.00×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849360" y="3876040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2512" y="387604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R$180 – R$350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94080" y="4378960"/>
            <a:ext cx="246888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7232" y="437896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home_appliances_2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362960" y="437896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36112" y="437896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R$154.00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780280" y="437896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53432" y="437896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R$209.99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197600" y="437896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70752" y="437896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R$499.99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614920" y="4378960"/>
            <a:ext cx="123444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88072" y="437896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3.25×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849360" y="4378960"/>
            <a:ext cx="224028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2512" y="437896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R$200 – R$450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94080" y="48818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7232" y="488188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furniture_bedroom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3362960" y="488188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36112" y="488188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R$99.90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780280" y="488188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53432" y="488188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R$179.00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197600" y="488188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70752" y="488188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R$219.00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7614920" y="488188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88072" y="488188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8849360" y="4881880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22512" y="488188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R$150 – R$200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894080" y="5384800"/>
            <a:ext cx="246888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7232" y="538480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office_furniture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3362960" y="538480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36112" y="538480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R$114.99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4780280" y="538480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53432" y="538480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R$144.99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6197600" y="5384800"/>
            <a:ext cx="141732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70752" y="538480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R$186.99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7614920" y="5384800"/>
            <a:ext cx="123444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88072" y="538480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1.63×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8849360" y="5384800"/>
            <a:ext cx="2240280" cy="502920"/>
          </a:xfrm>
          <a:prstGeom prst="rect">
            <a:avLst/>
          </a:prstGeom>
          <a:solidFill>
            <a:srgbClr val="F5F7F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22512" y="538480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R$135 – R$175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EMPIRICAL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Payment &amp; Installment Behavior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MIX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9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34640" y="1931416"/>
            <a:ext cx="4114800" cy="29260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1931416"/>
            <a:ext cx="4114800" cy="2926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894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73.93%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0" y="189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76,795 orders · R$12.54M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8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Bancário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525776"/>
            <a:ext cx="4114800" cy="29260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2525776"/>
            <a:ext cx="1059729" cy="2926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24892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19.04%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248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19,784 orders · R$2.87M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8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3120136"/>
            <a:ext cx="4114800" cy="29260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3120136"/>
            <a:ext cx="309459" cy="2926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3083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5.56%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308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5,775 orders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77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34640" y="3714496"/>
            <a:ext cx="4114800" cy="29260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3714496"/>
            <a:ext cx="81817" cy="2926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36779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0" y="3677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1,529 orders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FINANCING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352044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828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54.5%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3152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in 1×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51960" y="4709160"/>
            <a:ext cx="352044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4828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35.1%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3484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– 6× installments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55280" y="4709160"/>
            <a:ext cx="352044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4828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10.3%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13816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– 12× installments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EMPIRICAL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Concentration of Demand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(SP)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728216"/>
            <a:ext cx="603504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1728216"/>
            <a:ext cx="603504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464040" y="1691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41.98% · 40,501 orders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 (RJ)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322576"/>
            <a:ext cx="603504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322576"/>
            <a:ext cx="1840269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464040" y="22860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12.80% · 12,350 orders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 (MG)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2916936"/>
            <a:ext cx="603504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2916936"/>
            <a:ext cx="1691856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28803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11.77% · 11,354 orders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do Sul (RS)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3511296"/>
            <a:ext cx="603504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3511296"/>
            <a:ext cx="796457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3474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5.54% · 5,345 orders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 (PR)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4105656"/>
            <a:ext cx="6035040" cy="31089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0" y="4105656"/>
            <a:ext cx="733575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4069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5.10% · 4,923 orders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10996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9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66.55%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200400" y="50292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national marketplace orders come from just the top 3 states — SP, RJ and MG — a strong signal for fulfillment-hub consolidation.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STRUCTURE · EMPIRICAL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&amp; Customer Satisfaction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88,644 orders delivered on or before the estimated date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783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 days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26280" y="2395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Delivery Duration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72491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 duration: 10.2 days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783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 / 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75320" y="2395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72491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104,164 customer reviews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DISTRIBUTION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4325112"/>
            <a:ext cx="7772400" cy="27432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280160" y="4325112"/>
            <a:ext cx="7772400" cy="274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4297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817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80160" y="4709160"/>
            <a:ext cx="7772400" cy="27432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0160" y="4709160"/>
            <a:ext cx="2600221" cy="274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46817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0657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3★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80160" y="5093208"/>
            <a:ext cx="7772400" cy="27432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80160" y="5093208"/>
            <a:ext cx="1116399" cy="274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5065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4498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2★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280160" y="5477256"/>
            <a:ext cx="7772400" cy="27432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80160" y="5477256"/>
            <a:ext cx="423949" cy="274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9235440" y="54498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8338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280160" y="5861304"/>
            <a:ext cx="7772400" cy="27432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80160" y="5861304"/>
            <a:ext cx="1554480" cy="274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9235440" y="5833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Interactive Analytics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27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ships as a dark glassmorphic web dashboard — 14 interactive Chart.js modules covering every layer of the analysis.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26060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7947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7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7008" y="22606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overview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226060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37947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37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0328" y="22606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pricing tiers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226060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37947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237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13648" y="22606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demand clustering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03784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1567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6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07008" y="30378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installment behavior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51960" y="303784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1567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3156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0328" y="30378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SLA compliance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0" y="303784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31567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3156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613648" y="30378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sentiment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81508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93395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933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07008" y="38150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&amp; ARIMA forecast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51960" y="381508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393395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0" y="3933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10328" y="38150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leaderboard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55280" y="381508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393395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3933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613648" y="38150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trends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459232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471119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711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207008" y="4592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seller density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251960" y="459232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0" y="471119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0" y="4711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910328" y="4592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duration distribution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955280" y="459232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92440" y="471119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1" name="Text 49"/>
          <p:cNvSpPr/>
          <p:nvPr/>
        </p:nvSpPr>
        <p:spPr>
          <a:xfrm>
            <a:off x="8092440" y="4711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613648" y="4592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breakdown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536956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" y="548843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5488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207008" y="5369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&amp; GMV KPI panel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251960" y="5369560"/>
            <a:ext cx="3520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89120" y="548843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9" name="Text 57"/>
          <p:cNvSpPr/>
          <p:nvPr/>
        </p:nvSpPr>
        <p:spPr>
          <a:xfrm>
            <a:off x="4389120" y="5488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910328" y="5369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financing split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UN Sustainable Development Goals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OlistIQ's data-driven pricing and logistics insights connect directly to three Sustainable Development Goals (SDGs).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59280" y="2331720"/>
            <a:ext cx="1005840" cy="1005840"/>
          </a:xfrm>
          <a:prstGeom prst="rect">
            <a:avLst/>
          </a:prstGeom>
          <a:solidFill>
            <a:srgbClr val="9C2E1E"/>
          </a:solidFill>
          <a:ln/>
        </p:spPr>
      </p:sp>
      <p:sp>
        <p:nvSpPr>
          <p:cNvPr id="7" name="Text 5"/>
          <p:cNvSpPr/>
          <p:nvPr/>
        </p:nvSpPr>
        <p:spPr>
          <a:xfrm>
            <a:off x="185928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 &amp; Economic Growth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benchmark-based pricing intelligence helps small sellers compete profitably and sustain marketplace income.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06720" y="2331720"/>
            <a:ext cx="1005840" cy="1005840"/>
          </a:xfrm>
          <a:prstGeom prst="rect">
            <a:avLst/>
          </a:prstGeom>
          <a:solidFill>
            <a:srgbClr val="A9720B"/>
          </a:solidFill>
          <a:ln/>
        </p:spPr>
      </p:sp>
      <p:sp>
        <p:nvSpPr>
          <p:cNvPr id="12" name="Text 10"/>
          <p:cNvSpPr/>
          <p:nvPr/>
        </p:nvSpPr>
        <p:spPr>
          <a:xfrm>
            <a:off x="550672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Infrastructure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0" y="42519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R-based statistical forecasting engine and open analytics dashboard model resilient, data-driven digital infrastructure.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635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06560" y="2331720"/>
            <a:ext cx="1005840" cy="1005840"/>
          </a:xfrm>
          <a:prstGeom prst="rect">
            <a:avLst/>
          </a:prstGeom>
          <a:solidFill>
            <a:srgbClr val="8A7B1E"/>
          </a:solidFill>
          <a:ln/>
        </p:spPr>
      </p:sp>
      <p:sp>
        <p:nvSpPr>
          <p:cNvPr id="17" name="Text 15"/>
          <p:cNvSpPr/>
          <p:nvPr/>
        </p:nvSpPr>
        <p:spPr>
          <a:xfrm>
            <a:off x="930656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&amp; Production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321040" y="42519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reduces overstocking and understocking, cutting waste across the marketplace supply chain.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Scope, Limitations &amp; Challenges Faced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solidFill>
            <a:srgbClr val="F5F7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FDEBD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22 monthly observations were available for ARIMA fitting — a short series limits seasonal-component reliability.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18688"/>
            <a:ext cx="320040" cy="320040"/>
          </a:xfrm>
          <a:prstGeom prst="ellipse">
            <a:avLst/>
          </a:prstGeom>
          <a:solidFill>
            <a:srgbClr val="FDEBD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18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191256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of R$114,823 remains large relative to monthly revenue (~R$700K), reflecting genuine month-to-month volatility.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242816"/>
            <a:ext cx="320040" cy="320040"/>
          </a:xfrm>
          <a:prstGeom prst="ellipse">
            <a:avLst/>
          </a:prstGeom>
          <a:solidFill>
            <a:srgbClr val="FDEBD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42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215384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price bands assume static demand; they don't yet react to real-time competitor pricing.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266944"/>
            <a:ext cx="320040" cy="320040"/>
          </a:xfrm>
          <a:prstGeom prst="ellipse">
            <a:avLst/>
          </a:prstGeom>
          <a:solidFill>
            <a:srgbClr val="FDEBD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66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5239512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9-table join required careful handling of missing delivery dates and duplicate review IDs.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5532120" cy="4572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19456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8000" y="2167128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SARIMA / Prophet ensembles to capture seasonality as more months of data accumulate.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3218688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218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58000" y="3191256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competitor price scraping to make price bands dynamic rather than static.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4242816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242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8000" y="4215384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R pipeline as a live Shiny or Plumber API for continuous nightly retraining.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5266944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5266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58000" y="523951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seller-level churn prediction using the same relational feature set.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Discussion, Strategic Recommendations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Category Pricing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pricing for wide-dispersion categories (small_appliances, agro_industry); tight median-based pricing for low-dispersion ones.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17556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Consolidation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80560" y="2267712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hubs in São Paulo and Rio de Janeiro would serve 66.55% of national order volume with sub-4-day SLAs.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783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23960" y="17556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Cost Reduction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83880" y="2267712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2–3% cash discounts on Boleto payments (19.04% of volume) to offset credit-card interchange overheads.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109960" cy="1874520"/>
          </a:xfrm>
          <a:prstGeom prst="rect">
            <a:avLst/>
          </a:prstGeom>
          <a:solidFill>
            <a:srgbClr val="F5F7FC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645152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demonstrates that a fully R-based pipeline — from relational ETL through auto.arima() forecasting to an interactive Chart.js dashboard — can deliver marketplace-grade pricing and revenue intelligence. At an RMSE of R$114,823.40, it outperforms every comparable Olist-based benchmark tested while remaining fully reproducible and open-source.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Bibliography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Olist. Brazilian E-Commerce Public Dataset by Olist (2016–2018). Kaggle Datasets.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05740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Hyndman, R. J., &amp; Khandakar, Y. (2008). Automatic Time Series Forecasting: The forecast Package for R. Journal of Statistical Software.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Wickham, H. et al. (2019). Welcome to the tidyverse. Journal of Open-Source Software.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06324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Rodrigues, A. (2022). Olist Sales Forecasting with Facebook Prophet. Kaggle Notebooks.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56616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Trapletti, A., &amp; Hornik, K. (2024). tseries: Time Series Analysis and Computational Finance. CRAN Package Documentation.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Contributors (2024). Chart.js 4.4.0 Documentation. chartjs.org.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57200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(2015). The 17 Sustainable Development Goals. UN Department of Economic and Social Affairs.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07492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Core Team (2025). R: A Language and Environment for Statistical Computing (v4.5.2). R Foundation for Statistical Computing.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127760" y="1463040"/>
            <a:ext cx="856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5074920" cy="13716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8803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65960" y="28529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Yarrapureddy Lakshmi Reddy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965960" y="3273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192324077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5074920" cy="13716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8803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60920" y="28529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Thirulogasundar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60920" y="3273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192321073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5074920" cy="13716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44805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480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65960" y="4453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Rupesh Reddy Karnati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965960" y="4873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192324097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160520"/>
            <a:ext cx="5074920" cy="13716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44805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480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60920" y="4453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Rajiv </a:t>
            </a:r>
            <a:r>
              <a:rPr lang="en-US" sz="14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shashank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60920" y="4873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192321042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OlistIQ · Capstone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79</TotalTime>
  <Words>2653</Words>
  <Application>Microsoft Office PowerPoint</Application>
  <PresentationFormat>Widescreen</PresentationFormat>
  <Paragraphs>567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</vt:lpstr>
      <vt:lpstr>Neue Haas Grotesk Text Pro</vt:lpstr>
      <vt:lpstr>System Font Regular</vt:lpstr>
      <vt:lpstr>Times New Roman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Lakshmi reddy Y</cp:lastModifiedBy>
  <cp:revision>52</cp:revision>
  <dcterms:created xsi:type="dcterms:W3CDTF">2026-08-13T05:28:15Z</dcterms:created>
  <dcterms:modified xsi:type="dcterms:W3CDTF">2026-08-17T04:52:45Z</dcterms:modified>
</cp:coreProperties>
</file>